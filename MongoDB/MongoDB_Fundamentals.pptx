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ck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ov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sli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58AF295-E20A-45B6-B98E-577D36EB5AD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3E797E-E982-4BA5-9403-18C83B762D1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CD6B65-637F-438E-857C-5AF38E497C4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758B18-BDFA-4AA2-B94B-B51E1C6D28E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E924AB-4518-4B3A-B933-6E22DA7576C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6DE9EB-3F4B-43C1-96B8-16F270855C3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21B1F2-1C35-4EE3-8F76-056562B8D3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19036F-F40F-497D-909E-30BFBD7BFD3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FF1192-F1D4-41C4-927E-5858EADF771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06AC59-BE0D-4EA7-82D6-63E441C6451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A0D237-1D6E-4AE4-A338-F9B1868C5A2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title text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09440" cy="5143320"/>
          </a:xfrm>
          <a:prstGeom prst="rect">
            <a:avLst/>
          </a:prstGeom>
          <a:solidFill>
            <a:srgbClr val="00ed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7132320" y="548640"/>
            <a:ext cx="1645560" cy="1645560"/>
          </a:xfrm>
          <a:prstGeom prst="ellipse">
            <a:avLst/>
          </a:prstGeom>
          <a:solidFill>
            <a:srgbClr val="00ed64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7132320" y="548640"/>
            <a:ext cx="16455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200" spc="-1" strike="noStrike">
                <a:solidFill>
                  <a:srgbClr val="000000"/>
                </a:solidFill>
                <a:latin typeface="Calibri"/>
              </a:rPr>
              <a:t>🍃</a:t>
            </a:r>
            <a:endParaRPr b="0" lang="en-US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457200" y="548640"/>
            <a:ext cx="6400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0ed64"/>
                </a:solidFill>
                <a:latin typeface="Calibri"/>
                <a:ea typeface="Calibri"/>
              </a:rPr>
              <a:t>MongoDB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457200" y="1097280"/>
            <a:ext cx="6400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  <a:ea typeface="Calibri"/>
              </a:rPr>
              <a:t>Fundamentals</a:t>
            </a:r>
            <a:endParaRPr b="0" lang="en-US" sz="5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57200" y="2331720"/>
            <a:ext cx="7772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c5c9d4"/>
                </a:solidFill>
                <a:latin typeface="Calibri"/>
                <a:ea typeface="Calibri"/>
              </a:rPr>
              <a:t>Complete Guide: MongoDB, Atlas, Compass &amp; CRUD Operations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20040" y="3108960"/>
            <a:ext cx="1599840" cy="411120"/>
          </a:xfrm>
          <a:prstGeom prst="roundRect">
            <a:avLst>
              <a:gd name="adj" fmla="val 22222"/>
            </a:avLst>
          </a:prstGeom>
          <a:solidFill>
            <a:srgbClr val="13aa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320040" y="310896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MongoDB &amp; mongod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2057400" y="3108960"/>
            <a:ext cx="1599840" cy="411120"/>
          </a:xfrm>
          <a:prstGeom prst="roundRect">
            <a:avLst>
              <a:gd name="adj" fmla="val 22222"/>
            </a:avLst>
          </a:prstGeom>
          <a:solidFill>
            <a:srgbClr val="13aa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2057400" y="310896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Atlas &amp; Compass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3794760" y="3108960"/>
            <a:ext cx="1599840" cy="411120"/>
          </a:xfrm>
          <a:prstGeom prst="roundRect">
            <a:avLst>
              <a:gd name="adj" fmla="val 22222"/>
            </a:avLst>
          </a:prstGeom>
          <a:solidFill>
            <a:srgbClr val="13aa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3794760" y="310896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Installation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5532120" y="3108960"/>
            <a:ext cx="1599840" cy="411120"/>
          </a:xfrm>
          <a:prstGeom prst="roundRect">
            <a:avLst>
              <a:gd name="adj" fmla="val 22222"/>
            </a:avLst>
          </a:prstGeom>
          <a:solidFill>
            <a:srgbClr val="13aa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5532120" y="310896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CRUD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269480" y="3108960"/>
            <a:ext cx="1599840" cy="411120"/>
          </a:xfrm>
          <a:prstGeom prst="roundRect">
            <a:avLst>
              <a:gd name="adj" fmla="val 22222"/>
            </a:avLst>
          </a:prstGeom>
          <a:solidFill>
            <a:srgbClr val="13aa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7269480" y="310896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Sort &amp; Update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320040" y="3840480"/>
            <a:ext cx="8503560" cy="1440"/>
          </a:xfrm>
          <a:prstGeom prst="rect">
            <a:avLst/>
          </a:prstGeom>
          <a:solidFill>
            <a:srgbClr val="6b728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3200" bIns="-432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320040" y="3931920"/>
            <a:ext cx="8503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01e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0ed64"/>
                </a:solidFill>
                <a:latin typeface="Calibri"/>
                <a:ea typeface="Calibri"/>
              </a:rPr>
              <a:t>What is MongoDB &amp; mongod?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"/>
          <p:cNvSpPr/>
          <p:nvPr/>
        </p:nvSpPr>
        <p:spPr>
          <a:xfrm>
            <a:off x="274320" y="914400"/>
            <a:ext cx="3931560" cy="3565800"/>
          </a:xfrm>
          <a:prstGeom prst="rect">
            <a:avLst/>
          </a:prstGeom>
          <a:solidFill>
            <a:srgbClr val="1a1d2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3"/>
          <p:cNvSpPr/>
          <p:nvPr/>
        </p:nvSpPr>
        <p:spPr>
          <a:xfrm>
            <a:off x="274320" y="914400"/>
            <a:ext cx="3931560" cy="72720"/>
          </a:xfrm>
          <a:prstGeom prst="rect">
            <a:avLst/>
          </a:prstGeom>
          <a:solidFill>
            <a:srgbClr val="00ed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365760" y="1005840"/>
            <a:ext cx="3748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00ed64"/>
                </a:solidFill>
                <a:latin typeface="Calibri"/>
                <a:ea typeface="Calibri"/>
              </a:rPr>
              <a:t>🍃  </a:t>
            </a:r>
            <a:r>
              <a:rPr b="1" lang="en-US" sz="1700" spc="-1" strike="noStrike">
                <a:solidFill>
                  <a:srgbClr val="00ed64"/>
                </a:solidFill>
                <a:latin typeface="Calibri"/>
                <a:ea typeface="Calibri"/>
              </a:rPr>
              <a:t>MongoDB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11480" y="1554480"/>
            <a:ext cx="37486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Open-source NoSQL document database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Stores data as JSON-like BSON documents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Schema-less (flexible data structure)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Horizontally scalable — great for large data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Collections replace SQL tables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Documents replace SQL rows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4572000" y="914400"/>
            <a:ext cx="4297320" cy="3565800"/>
          </a:xfrm>
          <a:prstGeom prst="rect">
            <a:avLst/>
          </a:prstGeom>
          <a:solidFill>
            <a:srgbClr val="1a1d2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7"/>
          <p:cNvSpPr/>
          <p:nvPr/>
        </p:nvSpPr>
        <p:spPr>
          <a:xfrm>
            <a:off x="4572000" y="914400"/>
            <a:ext cx="4297320" cy="7272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4663440" y="100584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4a9eff"/>
                </a:solidFill>
                <a:latin typeface="Calibri"/>
                <a:ea typeface="Calibri"/>
              </a:rPr>
              <a:t>⚙️  </a:t>
            </a:r>
            <a:r>
              <a:rPr b="1" lang="en-US" sz="1700" spc="-1" strike="noStrike">
                <a:solidFill>
                  <a:srgbClr val="4a9eff"/>
                </a:solidFill>
                <a:latin typeface="Calibri"/>
                <a:ea typeface="Calibri"/>
              </a:rPr>
              <a:t>mongod (The Daemon)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4663440" y="1554480"/>
            <a:ext cx="411444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mongod = MongoDB Daemon (background process)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It is the PRIMARY database process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Handles all data requests &amp; 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Listens on port 27017 by default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Must be running before connecting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5c9d4"/>
                </a:solidFill>
                <a:latin typeface="Calibri"/>
                <a:ea typeface="Calibri"/>
              </a:rPr>
              <a:t>Started via terminal: mongod command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01e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0ed64"/>
                </a:solidFill>
                <a:latin typeface="Calibri"/>
                <a:ea typeface="Calibri"/>
              </a:rPr>
              <a:t>MongoDB Atlas &amp; Compass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274320" y="914400"/>
            <a:ext cx="3931560" cy="3657240"/>
          </a:xfrm>
          <a:prstGeom prst="rect">
            <a:avLst/>
          </a:prstGeom>
          <a:solidFill>
            <a:srgbClr val="1a1d2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274320" y="914400"/>
            <a:ext cx="3931560" cy="72720"/>
          </a:xfrm>
          <a:prstGeom prst="rect">
            <a:avLst/>
          </a:prstGeom>
          <a:solidFill>
            <a:srgbClr val="e875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4"/>
          <p:cNvSpPr/>
          <p:nvPr/>
        </p:nvSpPr>
        <p:spPr>
          <a:xfrm>
            <a:off x="365760" y="1005840"/>
            <a:ext cx="3748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8751a"/>
                </a:solidFill>
                <a:latin typeface="Calibri"/>
                <a:ea typeface="Calibri"/>
              </a:rPr>
              <a:t>☁️  </a:t>
            </a:r>
            <a:r>
              <a:rPr b="1" lang="en-US" sz="1700" spc="-1" strike="noStrike">
                <a:solidFill>
                  <a:srgbClr val="e8751a"/>
                </a:solidFill>
                <a:latin typeface="Calibri"/>
                <a:ea typeface="Calibri"/>
              </a:rPr>
              <a:t>MongoDB Atlas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5"/>
          <p:cNvSpPr/>
          <p:nvPr/>
        </p:nvSpPr>
        <p:spPr>
          <a:xfrm>
            <a:off x="411480" y="1554480"/>
            <a:ext cx="3748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Fully managed cloud database service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Runs MongoDB in AWS, Azure, or GCP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No manual server setup required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Free M0 tier available for learning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Auto-scaling, backups &amp; monitoring built-in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Access via browser — no install needed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Create cluster → whitelist IP → connect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6"/>
          <p:cNvSpPr/>
          <p:nvPr/>
        </p:nvSpPr>
        <p:spPr>
          <a:xfrm>
            <a:off x="4572000" y="914400"/>
            <a:ext cx="4297320" cy="3657240"/>
          </a:xfrm>
          <a:prstGeom prst="rect">
            <a:avLst/>
          </a:prstGeom>
          <a:solidFill>
            <a:srgbClr val="1a1d2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4572000" y="914400"/>
            <a:ext cx="4297320" cy="72720"/>
          </a:xfrm>
          <a:prstGeom prst="rect">
            <a:avLst/>
          </a:prstGeom>
          <a:solidFill>
            <a:srgbClr val="00ed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8"/>
          <p:cNvSpPr/>
          <p:nvPr/>
        </p:nvSpPr>
        <p:spPr>
          <a:xfrm>
            <a:off x="4663440" y="100584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00ed64"/>
                </a:solidFill>
                <a:latin typeface="Calibri"/>
                <a:ea typeface="Calibri"/>
              </a:rPr>
              <a:t>🧭  </a:t>
            </a:r>
            <a:r>
              <a:rPr b="1" lang="en-US" sz="1700" spc="-1" strike="noStrike">
                <a:solidFill>
                  <a:srgbClr val="00ed64"/>
                </a:solidFill>
                <a:latin typeface="Calibri"/>
                <a:ea typeface="Calibri"/>
              </a:rPr>
              <a:t>MongoDB Compass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9"/>
          <p:cNvSpPr/>
          <p:nvPr/>
        </p:nvSpPr>
        <p:spPr>
          <a:xfrm>
            <a:off x="4663440" y="1554480"/>
            <a:ext cx="411444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Official GUI (Graphical User Interface)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Visual tool — no command-line needed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Browse databases &amp; collections visually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Build &amp; run queries with query bar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Import CSV/JSON files easily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Aggregation pipeline builder included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5c9d4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c5c9d4"/>
                </a:solidFill>
                <a:latin typeface="Calibri"/>
                <a:ea typeface="Calibri"/>
              </a:rPr>
              <a:t>Connect to local or Atlas deployments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01e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0ed64"/>
                </a:solidFill>
                <a:latin typeface="Calibri"/>
                <a:ea typeface="Calibri"/>
              </a:rPr>
              <a:t>Installing MongoDB Community Server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2"/>
          <p:cNvSpPr/>
          <p:nvPr/>
        </p:nvSpPr>
        <p:spPr>
          <a:xfrm>
            <a:off x="228600" y="868680"/>
            <a:ext cx="456840" cy="456840"/>
          </a:xfrm>
          <a:prstGeom prst="ellipse">
            <a:avLst/>
          </a:prstGeom>
          <a:solidFill>
            <a:srgbClr val="00ed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3"/>
          <p:cNvSpPr/>
          <p:nvPr/>
        </p:nvSpPr>
        <p:spPr>
          <a:xfrm>
            <a:off x="228600" y="8686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f1117"/>
                </a:solidFill>
                <a:latin typeface="Calibri"/>
              </a:rPr>
              <a:t>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822960" y="868680"/>
            <a:ext cx="8046360" cy="658080"/>
          </a:xfrm>
          <a:prstGeom prst="rect">
            <a:avLst/>
          </a:prstGeom>
          <a:solidFill>
            <a:srgbClr val="1a1d2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5"/>
          <p:cNvSpPr/>
          <p:nvPr/>
        </p:nvSpPr>
        <p:spPr>
          <a:xfrm>
            <a:off x="914400" y="90540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ed64"/>
                </a:solidFill>
                <a:latin typeface="Calibri"/>
                <a:ea typeface="Calibri"/>
              </a:rPr>
              <a:t>Download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914400" y="114300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Go to mongodb.com/try/download/community → Select your OS (Windows/Mac/Linux) → Download .msi or .tgz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7"/>
          <p:cNvSpPr/>
          <p:nvPr/>
        </p:nvSpPr>
        <p:spPr>
          <a:xfrm>
            <a:off x="228600" y="1673280"/>
            <a:ext cx="456840" cy="456840"/>
          </a:xfrm>
          <a:prstGeom prst="ellipse">
            <a:avLst/>
          </a:prstGeom>
          <a:solidFill>
            <a:srgbClr val="00ed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8"/>
          <p:cNvSpPr/>
          <p:nvPr/>
        </p:nvSpPr>
        <p:spPr>
          <a:xfrm>
            <a:off x="228600" y="16732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f1117"/>
                </a:solidFill>
                <a:latin typeface="Calibri"/>
              </a:rPr>
              <a:t>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822960" y="1673280"/>
            <a:ext cx="8046360" cy="658080"/>
          </a:xfrm>
          <a:prstGeom prst="rect">
            <a:avLst/>
          </a:prstGeom>
          <a:solidFill>
            <a:srgbClr val="1a1d2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10"/>
          <p:cNvSpPr/>
          <p:nvPr/>
        </p:nvSpPr>
        <p:spPr>
          <a:xfrm>
            <a:off x="914400" y="171000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ed64"/>
                </a:solidFill>
                <a:latin typeface="Calibri"/>
                <a:ea typeface="Calibri"/>
              </a:rPr>
              <a:t>Install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11"/>
          <p:cNvSpPr/>
          <p:nvPr/>
        </p:nvSpPr>
        <p:spPr>
          <a:xfrm>
            <a:off x="914400" y="194760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Run installer → Choose 'Complete' installation → Install MongoDB as a Service (recommended)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Shape 12"/>
          <p:cNvSpPr/>
          <p:nvPr/>
        </p:nvSpPr>
        <p:spPr>
          <a:xfrm>
            <a:off x="228600" y="2477880"/>
            <a:ext cx="456840" cy="456840"/>
          </a:xfrm>
          <a:prstGeom prst="ellipse">
            <a:avLst/>
          </a:prstGeom>
          <a:solidFill>
            <a:srgbClr val="00ed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13"/>
          <p:cNvSpPr/>
          <p:nvPr/>
        </p:nvSpPr>
        <p:spPr>
          <a:xfrm>
            <a:off x="228600" y="24778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f1117"/>
                </a:solidFill>
                <a:latin typeface="Calibri"/>
              </a:rPr>
              <a:t>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14"/>
          <p:cNvSpPr/>
          <p:nvPr/>
        </p:nvSpPr>
        <p:spPr>
          <a:xfrm>
            <a:off x="822960" y="2477880"/>
            <a:ext cx="8046360" cy="658080"/>
          </a:xfrm>
          <a:prstGeom prst="rect">
            <a:avLst/>
          </a:prstGeom>
          <a:solidFill>
            <a:srgbClr val="1a1d2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15"/>
          <p:cNvSpPr/>
          <p:nvPr/>
        </p:nvSpPr>
        <p:spPr>
          <a:xfrm>
            <a:off x="914400" y="251460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ed64"/>
                </a:solidFill>
                <a:latin typeface="Calibri"/>
                <a:ea typeface="Calibri"/>
              </a:rPr>
              <a:t>Install mongosh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6"/>
          <p:cNvSpPr/>
          <p:nvPr/>
        </p:nvSpPr>
        <p:spPr>
          <a:xfrm>
            <a:off x="914400" y="275220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Download MongoDB Shell (mongosh) separately from mongodb.com/try/download/shell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17"/>
          <p:cNvSpPr/>
          <p:nvPr/>
        </p:nvSpPr>
        <p:spPr>
          <a:xfrm>
            <a:off x="228600" y="3282840"/>
            <a:ext cx="456840" cy="456840"/>
          </a:xfrm>
          <a:prstGeom prst="ellipse">
            <a:avLst/>
          </a:prstGeom>
          <a:solidFill>
            <a:srgbClr val="00ed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18"/>
          <p:cNvSpPr/>
          <p:nvPr/>
        </p:nvSpPr>
        <p:spPr>
          <a:xfrm>
            <a:off x="228600" y="3282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f1117"/>
                </a:solidFill>
                <a:latin typeface="Calibri"/>
              </a:rPr>
              <a:t>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19"/>
          <p:cNvSpPr/>
          <p:nvPr/>
        </p:nvSpPr>
        <p:spPr>
          <a:xfrm>
            <a:off x="822960" y="3282840"/>
            <a:ext cx="8046360" cy="658080"/>
          </a:xfrm>
          <a:prstGeom prst="rect">
            <a:avLst/>
          </a:prstGeom>
          <a:solidFill>
            <a:srgbClr val="1a1d2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20"/>
          <p:cNvSpPr/>
          <p:nvPr/>
        </p:nvSpPr>
        <p:spPr>
          <a:xfrm>
            <a:off x="914400" y="331920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ed64"/>
                </a:solidFill>
                <a:latin typeface="Calibri"/>
                <a:ea typeface="Calibri"/>
              </a:rPr>
              <a:t>Verify Installation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21"/>
          <p:cNvSpPr/>
          <p:nvPr/>
        </p:nvSpPr>
        <p:spPr>
          <a:xfrm>
            <a:off x="914400" y="355716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Open terminal → Type: mongod --version and mongosh --version to confirm success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22"/>
          <p:cNvSpPr/>
          <p:nvPr/>
        </p:nvSpPr>
        <p:spPr>
          <a:xfrm>
            <a:off x="228600" y="4087440"/>
            <a:ext cx="456840" cy="456840"/>
          </a:xfrm>
          <a:prstGeom prst="ellipse">
            <a:avLst/>
          </a:prstGeom>
          <a:solidFill>
            <a:srgbClr val="00ed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23"/>
          <p:cNvSpPr/>
          <p:nvPr/>
        </p:nvSpPr>
        <p:spPr>
          <a:xfrm>
            <a:off x="228600" y="408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f1117"/>
                </a:solidFill>
                <a:latin typeface="Calibri"/>
              </a:rPr>
              <a:t>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24"/>
          <p:cNvSpPr/>
          <p:nvPr/>
        </p:nvSpPr>
        <p:spPr>
          <a:xfrm>
            <a:off x="822960" y="4087440"/>
            <a:ext cx="8046360" cy="658080"/>
          </a:xfrm>
          <a:prstGeom prst="rect">
            <a:avLst/>
          </a:prstGeom>
          <a:solidFill>
            <a:srgbClr val="1a1d2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25"/>
          <p:cNvSpPr/>
          <p:nvPr/>
        </p:nvSpPr>
        <p:spPr>
          <a:xfrm>
            <a:off x="914400" y="412380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ed64"/>
                </a:solidFill>
                <a:latin typeface="Calibri"/>
                <a:ea typeface="Calibri"/>
              </a:rPr>
              <a:t>Start Database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26"/>
          <p:cNvSpPr/>
          <p:nvPr/>
        </p:nvSpPr>
        <p:spPr>
          <a:xfrm>
            <a:off x="914400" y="436176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Run: mongod (starts the daemon) → Then: mongosh (opens the shell to interact)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01e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0ed64"/>
                </a:solidFill>
                <a:latin typeface="Calibri"/>
                <a:ea typeface="Calibri"/>
              </a:rPr>
              <a:t>Create Database &amp; Collections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2"/>
          <p:cNvSpPr/>
          <p:nvPr/>
        </p:nvSpPr>
        <p:spPr>
          <a:xfrm>
            <a:off x="274320" y="822960"/>
            <a:ext cx="8595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0ed64"/>
                </a:solidFill>
                <a:latin typeface="Calibri"/>
                <a:ea typeface="Calibri"/>
              </a:rPr>
              <a:t>🗄️  </a:t>
            </a:r>
            <a:r>
              <a:rPr b="1" lang="en-US" sz="1600" spc="-1" strike="noStrike">
                <a:solidFill>
                  <a:srgbClr val="00ed64"/>
                </a:solidFill>
                <a:latin typeface="Calibri"/>
                <a:ea typeface="Calibri"/>
              </a:rPr>
              <a:t>Create a Database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3"/>
          <p:cNvSpPr/>
          <p:nvPr/>
        </p:nvSpPr>
        <p:spPr>
          <a:xfrm>
            <a:off x="274320" y="1234440"/>
            <a:ext cx="8595000" cy="685440"/>
          </a:xfrm>
          <a:prstGeom prst="rect">
            <a:avLst/>
          </a:prstGeom>
          <a:solidFill>
            <a:srgbClr val="0d111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457200" y="123444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ed64"/>
                </a:solidFill>
                <a:latin typeface="Consolas"/>
                <a:ea typeface="Consolas"/>
              </a:rPr>
              <a:t>use myDatabase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274320" y="19933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MongoDB creates the DB automatically when you first insert data into it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use &lt;dbName&gt; switches to (or creates) the database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show dbs — lists all databases  |  db — shows current database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274320" y="2697480"/>
            <a:ext cx="8595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0ed64"/>
                </a:solidFill>
                <a:latin typeface="Calibri"/>
                <a:ea typeface="Calibri"/>
              </a:rPr>
              <a:t>📂  </a:t>
            </a:r>
            <a:r>
              <a:rPr b="1" lang="en-US" sz="1600" spc="-1" strike="noStrike">
                <a:solidFill>
                  <a:srgbClr val="00ed64"/>
                </a:solidFill>
                <a:latin typeface="Calibri"/>
                <a:ea typeface="Calibri"/>
              </a:rPr>
              <a:t>Create a Collection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Shape 7"/>
          <p:cNvSpPr/>
          <p:nvPr/>
        </p:nvSpPr>
        <p:spPr>
          <a:xfrm>
            <a:off x="274320" y="3108960"/>
            <a:ext cx="8595000" cy="914040"/>
          </a:xfrm>
          <a:prstGeom prst="rect">
            <a:avLst/>
          </a:prstGeom>
          <a:solidFill>
            <a:srgbClr val="0d111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8"/>
          <p:cNvSpPr/>
          <p:nvPr/>
        </p:nvSpPr>
        <p:spPr>
          <a:xfrm>
            <a:off x="457200" y="31546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en-US" sz="1300" spc="-1" strike="noStrike">
                <a:solidFill>
                  <a:srgbClr val="6b7280"/>
                </a:solidFill>
                <a:latin typeface="Consolas"/>
                <a:ea typeface="Consolas"/>
              </a:rPr>
              <a:t>// Method 1 — Explicit creation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db.createCollection(</a:t>
            </a:r>
            <a:r>
              <a:rPr b="0" lang="en-US" sz="1300" spc="-1" strike="noStrike">
                <a:solidFill>
                  <a:srgbClr val="ce9178"/>
                </a:solidFill>
                <a:latin typeface="Consolas"/>
                <a:ea typeface="Consolas"/>
              </a:rPr>
              <a:t>"users"</a:t>
            </a:r>
            <a:r>
              <a:rPr b="0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300" spc="-1" strike="noStrike">
                <a:solidFill>
                  <a:srgbClr val="6b7280"/>
                </a:solidFill>
                <a:latin typeface="Consolas"/>
                <a:ea typeface="Consolas"/>
              </a:rPr>
              <a:t>// Method 2 — Auto-created on first insert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db.users.insertOne({ name: </a:t>
            </a:r>
            <a:r>
              <a:rPr b="0" lang="en-US" sz="1300" spc="-1" strike="noStrike">
                <a:solidFill>
                  <a:srgbClr val="ce9178"/>
                </a:solidFill>
                <a:latin typeface="Consolas"/>
                <a:ea typeface="Consolas"/>
              </a:rPr>
              <a:t>"Alice"</a:t>
            </a:r>
            <a:r>
              <a:rPr b="0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 })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9"/>
          <p:cNvSpPr/>
          <p:nvPr/>
        </p:nvSpPr>
        <p:spPr>
          <a:xfrm>
            <a:off x="274320" y="4114800"/>
            <a:ext cx="8595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show collections — lists all collections in current DB  |  Collections = tables in SQL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01e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0ed64"/>
                </a:solidFill>
                <a:latin typeface="Calibri"/>
                <a:ea typeface="Calibri"/>
              </a:rPr>
              <a:t>Inserting Data — Single &amp; Multiple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2"/>
          <p:cNvSpPr/>
          <p:nvPr/>
        </p:nvSpPr>
        <p:spPr>
          <a:xfrm>
            <a:off x="274320" y="822960"/>
            <a:ext cx="8595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4a9eff"/>
                </a:solidFill>
                <a:latin typeface="Calibri"/>
                <a:ea typeface="Calibri"/>
              </a:rPr>
              <a:t>insertOne() — Insert a Single Document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Shape 3"/>
          <p:cNvSpPr/>
          <p:nvPr/>
        </p:nvSpPr>
        <p:spPr>
          <a:xfrm>
            <a:off x="274320" y="1188720"/>
            <a:ext cx="8595000" cy="1051200"/>
          </a:xfrm>
          <a:prstGeom prst="rect">
            <a:avLst/>
          </a:prstGeom>
          <a:solidFill>
            <a:srgbClr val="0d111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4"/>
          <p:cNvSpPr/>
          <p:nvPr/>
        </p:nvSpPr>
        <p:spPr>
          <a:xfrm>
            <a:off x="457200" y="1234440"/>
            <a:ext cx="822924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db.users.insertOne({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  </a:t>
            </a: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name: "Alice",  age: 25,  city: "Mumbai"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})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5"/>
          <p:cNvSpPr/>
          <p:nvPr/>
        </p:nvSpPr>
        <p:spPr>
          <a:xfrm>
            <a:off x="274320" y="2377440"/>
            <a:ext cx="8595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4a9eff"/>
                </a:solidFill>
                <a:latin typeface="Calibri"/>
                <a:ea typeface="Calibri"/>
              </a:rPr>
              <a:t>insertMany() — Insert Multiple Documents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6"/>
          <p:cNvSpPr/>
          <p:nvPr/>
        </p:nvSpPr>
        <p:spPr>
          <a:xfrm>
            <a:off x="274320" y="2743200"/>
            <a:ext cx="8595000" cy="2011320"/>
          </a:xfrm>
          <a:prstGeom prst="rect">
            <a:avLst/>
          </a:prstGeom>
          <a:solidFill>
            <a:srgbClr val="0d111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7"/>
          <p:cNvSpPr/>
          <p:nvPr/>
        </p:nvSpPr>
        <p:spPr>
          <a:xfrm>
            <a:off x="457200" y="2788920"/>
            <a:ext cx="82292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db.users.insertMany([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  </a:t>
            </a: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{ name: "Alice", age: 25, city: "Mumbai" },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  </a:t>
            </a: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{ name: "Bob",   age: 30, city: "Delhi"  },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  </a:t>
            </a: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{ name: "Carol", age: 22, city: "Pune"   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ed64"/>
                </a:solidFill>
                <a:latin typeface="Consolas"/>
                <a:ea typeface="Consolas"/>
              </a:rPr>
              <a:t>])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Shape 8"/>
          <p:cNvSpPr/>
          <p:nvPr/>
        </p:nvSpPr>
        <p:spPr>
          <a:xfrm>
            <a:off x="274320" y="4827960"/>
            <a:ext cx="8595000" cy="255600"/>
          </a:xfrm>
          <a:prstGeom prst="roundRect">
            <a:avLst>
              <a:gd name="adj" fmla="val 17857"/>
            </a:avLst>
          </a:prstGeom>
          <a:solidFill>
            <a:srgbClr val="1a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9"/>
          <p:cNvSpPr/>
          <p:nvPr/>
        </p:nvSpPr>
        <p:spPr>
          <a:xfrm>
            <a:off x="365760" y="482796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5c9d4"/>
                </a:solidFill>
                <a:latin typeface="Calibri"/>
                <a:ea typeface="Calibri"/>
              </a:rPr>
              <a:t>💡  </a:t>
            </a:r>
            <a:r>
              <a:rPr b="0" lang="en-US" sz="1000" spc="-1" strike="noStrike">
                <a:solidFill>
                  <a:srgbClr val="c5c9d4"/>
                </a:solidFill>
                <a:latin typeface="Calibri"/>
                <a:ea typeface="Calibri"/>
              </a:rPr>
              <a:t>MongoDB auto-generates a unique _id field for every document inserted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01e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0ed64"/>
                </a:solidFill>
                <a:latin typeface="Calibri"/>
                <a:ea typeface="Calibri"/>
              </a:rPr>
              <a:t>Find — Querying Documents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2"/>
          <p:cNvSpPr/>
          <p:nvPr/>
        </p:nvSpPr>
        <p:spPr>
          <a:xfrm>
            <a:off x="274320" y="80460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Find all documents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Shape 3"/>
          <p:cNvSpPr/>
          <p:nvPr/>
        </p:nvSpPr>
        <p:spPr>
          <a:xfrm>
            <a:off x="274320" y="104256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"/>
          <p:cNvSpPr/>
          <p:nvPr/>
        </p:nvSpPr>
        <p:spPr>
          <a:xfrm>
            <a:off x="457200" y="104256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db.users.find()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5"/>
          <p:cNvSpPr/>
          <p:nvPr/>
        </p:nvSpPr>
        <p:spPr>
          <a:xfrm>
            <a:off x="274320" y="151776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Find with filter (exact match)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Shape 6"/>
          <p:cNvSpPr/>
          <p:nvPr/>
        </p:nvSpPr>
        <p:spPr>
          <a:xfrm>
            <a:off x="274320" y="175572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7"/>
          <p:cNvSpPr/>
          <p:nvPr/>
        </p:nvSpPr>
        <p:spPr>
          <a:xfrm>
            <a:off x="457200" y="175572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db.users.find({ city: "Mumbai" })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8"/>
          <p:cNvSpPr/>
          <p:nvPr/>
        </p:nvSpPr>
        <p:spPr>
          <a:xfrm>
            <a:off x="274320" y="223128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Find one document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Shape 9"/>
          <p:cNvSpPr/>
          <p:nvPr/>
        </p:nvSpPr>
        <p:spPr>
          <a:xfrm>
            <a:off x="274320" y="246888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10"/>
          <p:cNvSpPr/>
          <p:nvPr/>
        </p:nvSpPr>
        <p:spPr>
          <a:xfrm>
            <a:off x="457200" y="246888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db.users.findOne({ name: "Alice" })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11"/>
          <p:cNvSpPr/>
          <p:nvPr/>
        </p:nvSpPr>
        <p:spPr>
          <a:xfrm>
            <a:off x="274320" y="29444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Comparison operators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Shape 12"/>
          <p:cNvSpPr/>
          <p:nvPr/>
        </p:nvSpPr>
        <p:spPr>
          <a:xfrm>
            <a:off x="274320" y="318204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13"/>
          <p:cNvSpPr/>
          <p:nvPr/>
        </p:nvSpPr>
        <p:spPr>
          <a:xfrm>
            <a:off x="457200" y="318204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db.users.find({ age: { $gt: 20, $lt: 30 } })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14"/>
          <p:cNvSpPr/>
          <p:nvPr/>
        </p:nvSpPr>
        <p:spPr>
          <a:xfrm>
            <a:off x="274320" y="365760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Logical AND / 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Shape 15"/>
          <p:cNvSpPr/>
          <p:nvPr/>
        </p:nvSpPr>
        <p:spPr>
          <a:xfrm>
            <a:off x="274320" y="389520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16"/>
          <p:cNvSpPr/>
          <p:nvPr/>
        </p:nvSpPr>
        <p:spPr>
          <a:xfrm>
            <a:off x="457200" y="389520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db.users.find({ $or: [{ city: "Delhi" }, { age: 25 }] })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17"/>
          <p:cNvSpPr/>
          <p:nvPr/>
        </p:nvSpPr>
        <p:spPr>
          <a:xfrm>
            <a:off x="274320" y="437076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Projection (select fields)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Shape 18"/>
          <p:cNvSpPr/>
          <p:nvPr/>
        </p:nvSpPr>
        <p:spPr>
          <a:xfrm>
            <a:off x="274320" y="460872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19"/>
          <p:cNvSpPr/>
          <p:nvPr/>
        </p:nvSpPr>
        <p:spPr>
          <a:xfrm>
            <a:off x="457200" y="460872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db.users.find({}, { name: 1, city: 1, _id: 0 })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20"/>
          <p:cNvSpPr/>
          <p:nvPr/>
        </p:nvSpPr>
        <p:spPr>
          <a:xfrm>
            <a:off x="0" y="4827960"/>
            <a:ext cx="9143640" cy="319680"/>
          </a:xfrm>
          <a:prstGeom prst="rect">
            <a:avLst/>
          </a:prstGeom>
          <a:solidFill>
            <a:srgbClr val="13aa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21"/>
          <p:cNvSpPr/>
          <p:nvPr/>
        </p:nvSpPr>
        <p:spPr>
          <a:xfrm>
            <a:off x="274320" y="482796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Operators: $eq  $ne  $gt  $gte  $lt  $lte  $in  $nin  $and  $or  $not  $nor  $exists  $type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01e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0ed64"/>
                </a:solidFill>
                <a:latin typeface="Calibri"/>
                <a:ea typeface="Calibri"/>
              </a:rPr>
              <a:t>Sort, Limit &amp; Skip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2"/>
          <p:cNvSpPr/>
          <p:nvPr/>
        </p:nvSpPr>
        <p:spPr>
          <a:xfrm>
            <a:off x="274320" y="80460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Sort ascending (1)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Shape 3"/>
          <p:cNvSpPr/>
          <p:nvPr/>
        </p:nvSpPr>
        <p:spPr>
          <a:xfrm>
            <a:off x="274320" y="104256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4"/>
          <p:cNvSpPr/>
          <p:nvPr/>
        </p:nvSpPr>
        <p:spPr>
          <a:xfrm>
            <a:off x="457200" y="104256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db.users.find().sort({ age: 1 })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274320" y="151776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Sort descending (-1)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6"/>
          <p:cNvSpPr/>
          <p:nvPr/>
        </p:nvSpPr>
        <p:spPr>
          <a:xfrm>
            <a:off x="274320" y="175572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7"/>
          <p:cNvSpPr/>
          <p:nvPr/>
        </p:nvSpPr>
        <p:spPr>
          <a:xfrm>
            <a:off x="457200" y="175572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db.users.find().sort({ age: -1 })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274320" y="223128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Sort by multiple fields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Shape 9"/>
          <p:cNvSpPr/>
          <p:nvPr/>
        </p:nvSpPr>
        <p:spPr>
          <a:xfrm>
            <a:off x="274320" y="246888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10"/>
          <p:cNvSpPr/>
          <p:nvPr/>
        </p:nvSpPr>
        <p:spPr>
          <a:xfrm>
            <a:off x="457200" y="246888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db.users.find().sort({ city: 1, age: -1 })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274320" y="29444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Limit results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Shape 12"/>
          <p:cNvSpPr/>
          <p:nvPr/>
        </p:nvSpPr>
        <p:spPr>
          <a:xfrm>
            <a:off x="274320" y="318204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13"/>
          <p:cNvSpPr/>
          <p:nvPr/>
        </p:nvSpPr>
        <p:spPr>
          <a:xfrm>
            <a:off x="457200" y="318204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db.users.find().limit(5)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14"/>
          <p:cNvSpPr/>
          <p:nvPr/>
        </p:nvSpPr>
        <p:spPr>
          <a:xfrm>
            <a:off x="274320" y="365760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Skip documents (pagination)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15"/>
          <p:cNvSpPr/>
          <p:nvPr/>
        </p:nvSpPr>
        <p:spPr>
          <a:xfrm>
            <a:off x="274320" y="389520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16"/>
          <p:cNvSpPr/>
          <p:nvPr/>
        </p:nvSpPr>
        <p:spPr>
          <a:xfrm>
            <a:off x="457200" y="389520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db.users.find().skip(10).limit(5)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17"/>
          <p:cNvSpPr/>
          <p:nvPr/>
        </p:nvSpPr>
        <p:spPr>
          <a:xfrm>
            <a:off x="274320" y="437076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Sort + Limit combined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Shape 18"/>
          <p:cNvSpPr/>
          <p:nvPr/>
        </p:nvSpPr>
        <p:spPr>
          <a:xfrm>
            <a:off x="274320" y="4608720"/>
            <a:ext cx="8595000" cy="383760"/>
          </a:xfrm>
          <a:prstGeom prst="rect">
            <a:avLst/>
          </a:prstGeom>
          <a:solidFill>
            <a:srgbClr val="0d11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9"/>
          <p:cNvSpPr/>
          <p:nvPr/>
        </p:nvSpPr>
        <p:spPr>
          <a:xfrm>
            <a:off x="457200" y="460872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db.users.find({ city: "Mumbai" }).sort({ age: -1 }).limit(3)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Shape 20"/>
          <p:cNvSpPr/>
          <p:nvPr/>
        </p:nvSpPr>
        <p:spPr>
          <a:xfrm>
            <a:off x="0" y="4827960"/>
            <a:ext cx="9143640" cy="319680"/>
          </a:xfrm>
          <a:prstGeom prst="rect">
            <a:avLst/>
          </a:prstGeom>
          <a:solidFill>
            <a:srgbClr val="1a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21"/>
          <p:cNvSpPr/>
          <p:nvPr/>
        </p:nvSpPr>
        <p:spPr>
          <a:xfrm>
            <a:off x="274320" y="482796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💡  </a:t>
            </a:r>
            <a:r>
              <a:rPr b="0" lang="en-US" sz="1100" spc="-1" strike="noStrike">
                <a:solidFill>
                  <a:srgbClr val="c5c9d4"/>
                </a:solidFill>
                <a:latin typeface="Calibri"/>
                <a:ea typeface="Calibri"/>
              </a:rPr>
              <a:t>sort(1) = Ascending (A→Z, 0→9)   |   sort(-1) = Descending (Z→A, 9→0)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01e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0ed64"/>
                </a:solidFill>
                <a:latin typeface="Calibri"/>
                <a:ea typeface="Calibri"/>
              </a:rPr>
              <a:t>Update Operations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274320" y="822960"/>
            <a:ext cx="8595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a9eff"/>
                </a:solidFill>
                <a:latin typeface="Calibri"/>
                <a:ea typeface="Calibri"/>
              </a:rPr>
              <a:t>updateOne() — Update first matching document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3"/>
          <p:cNvSpPr/>
          <p:nvPr/>
        </p:nvSpPr>
        <p:spPr>
          <a:xfrm>
            <a:off x="274320" y="1115640"/>
            <a:ext cx="8595000" cy="1005480"/>
          </a:xfrm>
          <a:prstGeom prst="rect">
            <a:avLst/>
          </a:prstGeom>
          <a:solidFill>
            <a:srgbClr val="0d111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457200" y="1143000"/>
            <a:ext cx="822924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db.users.updateOne(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  </a:t>
            </a: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{ name: "Alice" },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  </a:t>
            </a: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{ $set: { age: 26 } 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274320" y="2240280"/>
            <a:ext cx="8595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a9eff"/>
                </a:solidFill>
                <a:latin typeface="Calibri"/>
                <a:ea typeface="Calibri"/>
              </a:rPr>
              <a:t>updateMany() — Update all matching documents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6"/>
          <p:cNvSpPr/>
          <p:nvPr/>
        </p:nvSpPr>
        <p:spPr>
          <a:xfrm>
            <a:off x="274320" y="2532960"/>
            <a:ext cx="8595000" cy="1005480"/>
          </a:xfrm>
          <a:prstGeom prst="rect">
            <a:avLst/>
          </a:prstGeom>
          <a:solidFill>
            <a:srgbClr val="0d111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457200" y="2560320"/>
            <a:ext cx="822924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db.users.updateMany(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  </a:t>
            </a: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{ city: "Mumbai" },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  </a:t>
            </a: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{ $set: { status: "active" } 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8"/>
          <p:cNvSpPr/>
          <p:nvPr/>
        </p:nvSpPr>
        <p:spPr>
          <a:xfrm>
            <a:off x="274320" y="3657600"/>
            <a:ext cx="8595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a9eff"/>
                </a:solidFill>
                <a:latin typeface="Calibri"/>
                <a:ea typeface="Calibri"/>
              </a:rPr>
              <a:t>replaceOne() — Replace entire document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Shape 9"/>
          <p:cNvSpPr/>
          <p:nvPr/>
        </p:nvSpPr>
        <p:spPr>
          <a:xfrm>
            <a:off x="274320" y="3950280"/>
            <a:ext cx="8595000" cy="1005480"/>
          </a:xfrm>
          <a:prstGeom prst="rect">
            <a:avLst/>
          </a:prstGeom>
          <a:solidFill>
            <a:srgbClr val="0d111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0"/>
          <p:cNvSpPr/>
          <p:nvPr/>
        </p:nvSpPr>
        <p:spPr>
          <a:xfrm>
            <a:off x="457200" y="3977640"/>
            <a:ext cx="822924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db.users.replaceOne(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  </a:t>
            </a: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{ name: "Bob" },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  </a:t>
            </a: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{ name: "Bob", age: 31, city: "Goa" 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ed64"/>
                </a:solidFill>
                <a:latin typeface="Consolas"/>
                <a:ea typeface="Consolas"/>
              </a:rPr>
              <a:t>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1"/>
          <p:cNvSpPr/>
          <p:nvPr/>
        </p:nvSpPr>
        <p:spPr>
          <a:xfrm>
            <a:off x="0" y="4800600"/>
            <a:ext cx="9143640" cy="347040"/>
          </a:xfrm>
          <a:prstGeom prst="rect">
            <a:avLst/>
          </a:prstGeom>
          <a:solidFill>
            <a:srgbClr val="13aa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12"/>
          <p:cNvSpPr/>
          <p:nvPr/>
        </p:nvSpPr>
        <p:spPr>
          <a:xfrm>
            <a:off x="274320" y="4800600"/>
            <a:ext cx="8595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Update Operators: $set  $unset  $inc  $mul  $rename  $push  $pull  $addToSet  $pop  $min  $max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01e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0ed64"/>
                </a:solidFill>
                <a:latin typeface="Calibri"/>
                <a:ea typeface="Calibri"/>
              </a:rPr>
              <a:t>Quick Reference Cheat Sheet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52" name="Table 0"/>
          <p:cNvGraphicFramePr/>
          <p:nvPr/>
        </p:nvGraphicFramePr>
        <p:xfrm>
          <a:off x="274320" y="777240"/>
          <a:ext cx="8595000" cy="422028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</a:tblGrid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0f1117"/>
                          </a:solidFill>
                          <a:latin typeface="Calibri"/>
                        </a:rPr>
                        <a:t>Command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00ed6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0f1117"/>
                          </a:solidFill>
                          <a:latin typeface="Calibri"/>
                        </a:rPr>
                        <a:t>Description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00ed64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use myDB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Switch / create database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show dbs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List all databases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db.createCollection('x')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Create collection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db.x.insertOne({...})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Insert one document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db.x.insertMany([...])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Insert many documents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db.x.find()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Find all documents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db.x.find({ key: val })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Find with filter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db.x.find().sort({k:1})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Sort ascending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db.x.find().sort({k:-1})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Sort descending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db.x.find().limit(n)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Limit results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db.x.updateOne({f},{$set:{}})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Update one document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db.x.updateMany({f},{$set:{}})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Update many documents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db.x.deleteOne({filter})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Delete one document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31720"/>
                    </a:solidFill>
                  </a:tcPr>
                </a:tc>
              </a:tr>
              <a:tr h="280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00ed64"/>
                          </a:solidFill>
                          <a:latin typeface="Consolas"/>
                          <a:ea typeface="Consolas"/>
                        </a:rPr>
                        <a:t>db.x.deleteMany({filter})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c5c9d4"/>
                          </a:solidFill>
                          <a:latin typeface="Calibri"/>
                          <a:ea typeface="Calibri"/>
                        </a:rPr>
                        <a:t>Delete many documents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a2f3f"/>
                      </a:solidFill>
                      <a:prstDash val="solid"/>
                    </a:lnL>
                    <a:lnR w="6480">
                      <a:solidFill>
                        <a:srgbClr val="2a2f3f"/>
                      </a:solidFill>
                      <a:prstDash val="solid"/>
                    </a:lnR>
                    <a:lnT w="6480">
                      <a:solidFill>
                        <a:srgbClr val="2a2f3f"/>
                      </a:solidFill>
                      <a:prstDash val="solid"/>
                    </a:lnT>
                    <a:lnB w="6480">
                      <a:solidFill>
                        <a:srgbClr val="2a2f3f"/>
                      </a:solidFill>
                      <a:prstDash val="soli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2026-03-27T03:27:40Z</dcterms:created>
  <dc:creator>PptxGenJS</dc:creator>
  <dc:description/>
  <dc:language>en-US</dc:language>
  <cp:lastModifiedBy/>
  <dcterms:modified xsi:type="dcterms:W3CDTF">2026-03-27T09:05:35Z</dcterms:modified>
  <cp:revision>2</cp:revision>
  <dc:subject>PptxGenJS Presentation</dc:subject>
  <dc:title>MongoDB Fundamentals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